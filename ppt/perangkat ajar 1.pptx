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5353" y="2358628"/>
            <a:ext cx="10341292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b="1" sz="4200" i="0" u="none">
                <a:solidFill>
                  <a:srgbClr val="F8FAFC"/>
                </a:solidFill>
                <a:latin typeface="Cinzel"/>
              </a:rPr>
              <a:t>Menguasai Struktur Naskah Film:</a:t>
            </a:r>
            <a:r>
              <a:t>
</a:t>
            </a:r>
            <a:r>
              <a:rPr b="1" sz="4200" i="0" u="none">
                <a:solidFill>
                  <a:srgbClr val="38BDF8"/>
                </a:solidFill>
                <a:latin typeface="Cinzel"/>
              </a:rPr>
              <a:t>Arsitektur Tiga Babak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29050"/>
            <a:ext cx="7620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Dari konsep premis logline menuju kerangka naratif yang mengikat emosi penonton.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39329"/>
            <a:ext cx="5334000" cy="47127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539329"/>
            <a:ext cx="5334000" cy="47127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1834604"/>
            <a:ext cx="498062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Cinzel"/>
              </a:rPr>
              <a:t>Definisi Dasar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2453729"/>
            <a:ext cx="47434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Kerangka fundamental penulisan skenario yang membagi cerita menjadi tiga bagian terikat prinsip sebab-akibat (kausalitas) yang dipopulerkan oleh Syd Field dan Blake Snyder.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865215"/>
            <a:ext cx="47434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"Struktur bukanlah penjara kreativitas, melainkan kompas agar penonton tidak tersesat dalam perjalanan emosional."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1834604"/>
            <a:ext cx="498062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Cinzel"/>
              </a:rPr>
              <a:t>Proporsi Durasi (Standar 120 Menit)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1775" y="2282279"/>
            <a:ext cx="4743450" cy="3674566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1775" y="2282279"/>
          <a:ext cx="4733924" cy="3674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101328"/>
                <a:gridCol w="1936998"/>
                <a:gridCol w="1695598"/>
              </a:tblGrid>
              <a:tr h="918641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8BDF8"/>
                          </a:solidFill>
                          <a:latin typeface="Cinzel"/>
                        </a:rPr>
                        <a:t>Babak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8BDF8"/>
                          </a:solidFill>
                          <a:latin typeface="Cinzel"/>
                        </a:rPr>
                        <a:t>Durasi / Persentase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8BDF8"/>
                          </a:solidFill>
                          <a:latin typeface="Cinzel"/>
                        </a:rPr>
                        <a:t>Fokus Utama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91864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Babak 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Menit 0 - 30 (25%)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Setup &amp; Karakter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1864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Babak II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Menit 30 - 90 (50%)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Konfrontasi &amp; Konflik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18643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Babak III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Menit 90 - 120 (25%)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Klimaks &amp; Resolusi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586537" y="3239541"/>
            <a:ext cx="110132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7865" y="3239541"/>
            <a:ext cx="19369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24863" y="3239541"/>
            <a:ext cx="16955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6537" y="4140547"/>
            <a:ext cx="110132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7865" y="4140547"/>
            <a:ext cx="19369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863" y="4140547"/>
            <a:ext cx="16955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6537" y="5041552"/>
            <a:ext cx="110132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7865" y="5041552"/>
            <a:ext cx="19369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24863" y="5041552"/>
            <a:ext cx="16955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38BDF8"/>
                </a:solidFill>
                <a:latin typeface="Cinzel"/>
              </a:rPr>
              <a:t>Apa itu Struktur Tiga Babak?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82291"/>
            <a:ext cx="5334000" cy="30268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82291"/>
            <a:ext cx="5334000" cy="30268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2677566"/>
            <a:ext cx="498062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Cinzel"/>
              </a:rPr>
              <a:t>Fungsi Utama Babak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775" y="2677566"/>
            <a:ext cx="498062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Cinzel"/>
              </a:rPr>
              <a:t>Titik Transisi Babak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124289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3125241"/>
            <a:ext cx="4552950" cy="54858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Status Quo: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Memperkenalkan dunia biasa (*ordinary world*) dan rutinitas tokoh utama (*protagonist*).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787169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788122"/>
            <a:ext cx="4552950" cy="54858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Inciting Incident (Menit ~10-12):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Peristiwa tak terduga yang merusak keseimbangan hidup karakter.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450050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4451002"/>
            <a:ext cx="4552950" cy="54858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Refusal of the Call: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Keraguan awal tokoh utama untuk merespons tantangan keluar dari zona nyaman.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3124289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2275" y="3125241"/>
            <a:ext cx="4552950" cy="82287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Plot Point 1 (Menit ~25-30):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Keputusan sadar tokoh utama untuk melintasi ambang batas (*crossing the threshold*).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7025" y="4061460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275" y="4062412"/>
            <a:ext cx="4552950" cy="54858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Karakter resmi meninggalkan dunia lama dan masuk ke arena konflik babak kedua.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7025" y="4724340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2275" y="4725292"/>
            <a:ext cx="4552950" cy="27429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Pertanyaan dramatik utama dari cerita resmi dimulai.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38BDF8"/>
                </a:solidFill>
                <a:latin typeface="Cinzel"/>
              </a:rPr>
              <a:t>Babak I: Pemaparan (Setup)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82291"/>
            <a:ext cx="5334000" cy="30268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82291"/>
            <a:ext cx="5334000" cy="30268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2677566"/>
            <a:ext cx="498062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Cinzel"/>
              </a:rPr>
              <a:t>Rintangan &amp; Eskalasi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775" y="2677566"/>
            <a:ext cx="498062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Cinzel"/>
              </a:rPr>
              <a:t>Titik Krusial Babak 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124289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3125241"/>
            <a:ext cx="4552950" cy="54858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Bagian terpanjang di mana hambatan, ujian, serta sekutu/musuh bermunculan.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787169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788122"/>
            <a:ext cx="4552950" cy="54858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Karakter bertindak secara reaktif menghadapi tekanan lingkungan baru.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450050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4451002"/>
            <a:ext cx="4552950" cy="54858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Taruhan (*stakes*) dinaikkan secara bertahap di setiap adegan.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3124289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2275" y="3125241"/>
            <a:ext cx="4552950" cy="82287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Midpoint (Menit ~60):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Wahyu atau kejutan besar di tengah cerita; karakter berubah dari reaktif menjadi proaktif.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7025" y="4061460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275" y="4062412"/>
            <a:ext cx="4552950" cy="54858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All Is Lost / Krisis (Menit ~75-85):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Titik terendah di mana seolah-olah harapan telah musnah sepenuhnya.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38BDF8"/>
                </a:solidFill>
                <a:latin typeface="Cinzel"/>
              </a:rPr>
              <a:t>Babak II: Konfrontasi (Confrontation)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76512"/>
            <a:ext cx="5334000" cy="26382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76512"/>
            <a:ext cx="5334000" cy="26382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2871787"/>
            <a:ext cx="498062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Cinzel"/>
              </a:rPr>
              <a:t>Menuju Puncak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775" y="2871787"/>
            <a:ext cx="498062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Cinzel"/>
              </a:rPr>
              <a:t>Klimaks &amp; New 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318510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3319462"/>
            <a:ext cx="4552950" cy="54858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Plot Point 2: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Pencerahan atau kekuatan baru yang didapatkan karakter dari titik terendah mereka.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981390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982342"/>
            <a:ext cx="4552950" cy="54858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Karakter menyatukan semua pelajaran hidup untuk menghadapi rintangan terakhir.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3318510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275" y="3319462"/>
            <a:ext cx="4552950" cy="54858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Klimaks: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Pertarungan puncak melawan antagonis atau hambatan terbesar. Pertanyaan logline terjawab!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3981390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2275" y="3982342"/>
            <a:ext cx="4552950" cy="82287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Resolusi: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Terbentuknya tatanan dunia baru (*new normal*) yang merefleksikan perubahan batin tokoh utama.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38BDF8"/>
                </a:solidFill>
                <a:latin typeface="Cinzel"/>
              </a:rPr>
              <a:t>Babak III: Resolusi (Resolution)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39441"/>
            <a:ext cx="5334000" cy="29125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39441"/>
            <a:ext cx="5334000" cy="29125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2734716"/>
            <a:ext cx="498062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Cinzel"/>
              </a:rPr>
              <a:t>Babak I &amp;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775" y="2734716"/>
            <a:ext cx="498062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Cinzel"/>
              </a:rPr>
              <a:t>Babak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181439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3182391"/>
            <a:ext cx="4552950" cy="82287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Babak I: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Marlin overprotective. Nemo ditangkap penyelam (*Inciting Incident*). Marlin mengejar perahu (*Plot Point 1*).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4118610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4119562"/>
            <a:ext cx="4552950" cy="82287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Babak II: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Perjalanan melintasi samudra bersama Dory. *Midpoint*: Informasi arus timur. *All Is Lost*: Nemo dikira mati di kantong plastik.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3181439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275" y="3182391"/>
            <a:ext cx="4552950" cy="54858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Babak III: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Marlin mengatasi rasa takutnya, bekerja sama menyelamatkan ikan di jaring (*Climax*).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3844319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2275" y="3845272"/>
            <a:ext cx="4552950" cy="54858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Resolusi: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Marlin menjadi ayah yang lebih percaya pada kemampuan anaknya (*New Normal*).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38BDF8"/>
                </a:solidFill>
                <a:latin typeface="Cinzel"/>
              </a:rPr>
              <a:t>Studi Kasus: Penerapan pada 'Finding Nemo'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687" y="3922216"/>
            <a:ext cx="8048625" cy="21011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9750" y="1767929"/>
            <a:ext cx="8572500" cy="143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b="0" sz="2700" i="0" u="none">
                <a:solidFill>
                  <a:srgbClr val="F8FAFC"/>
                </a:solidFill>
                <a:latin typeface="Cinzel"/>
              </a:rPr>
              <a:t>"Struktur memberi bentuk pada kekacauan ide, menjadikannya pengalaman sinematik yang tak terlupakan."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91050" y="3398341"/>
            <a:ext cx="30099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— Studio Kelas Penulisan Naskah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80510" y="4217491"/>
            <a:ext cx="7830978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8BDF8"/>
                </a:solidFill>
                <a:latin typeface="Cinzel"/>
              </a:rPr>
              <a:t>Tugas Kelas Hari 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66962" y="4788991"/>
            <a:ext cx="74580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Berdasarkan logline yang telah Anda buat sebelumnya, jabarkan ke dalam 3 poin naratif utama: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6962" y="5282356"/>
            <a:ext cx="74580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Plus Jakarta Sans SemiBold"/>
              </a:rPr>
              <a:t>1. Inciting Incident  |  2. Midpoint  |  3. Climax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38BDF8"/>
                </a:solidFill>
                <a:latin typeface="Cinzel"/>
              </a:rPr>
              <a:t>Rangkuman &amp; Tugas Praktik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